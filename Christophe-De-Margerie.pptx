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89216" y="381000"/>
            <a:ext cx="2046833" cy="609302"/>
          </a:xfrm>
          <a:prstGeom prst="rect">
            <a:avLst/>
          </a:prstGeom>
          <a:noFill/>
          <a:ln w="3810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05017" y="609451"/>
            <a:ext cx="16475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762000"/>
            <a:ext cx="79020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2000"/>
              </a:spcAft>
              <a:buNone/>
            </a:pPr>
            <a:r>
              <a:rPr lang="en-US" sz="10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DOSSIER D'INTELLIGENCE ECONOMIQUE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34901" y="1228130"/>
            <a:ext cx="790204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46"/>
              </a:spcBef>
              <a:spcAft>
                <a:spcPts val="600"/>
              </a:spcAft>
              <a:buNone/>
            </a:pPr>
            <a:r>
              <a:rPr lang="en-US" sz="3800" dirty="0">
                <a:solidFill>
                  <a:srgbClr val="F1FA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Mort a </a:t>
            </a:r>
            <a:pPr algn="l" indent="0" marL="0">
              <a:spcBef>
                <a:spcPts val="2546"/>
              </a:spcBef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Vnoukovo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34901" y="1948755"/>
            <a:ext cx="79020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3000"/>
              </a:spcAft>
              <a:buNone/>
            </a:pPr>
            <a:r>
              <a:rPr lang="en-US" sz="14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Christophe de Margerie — 20 octobre 2014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2539305"/>
            <a:ext cx="762000" cy="25301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2869406"/>
            <a:ext cx="79020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Problematique 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3244007"/>
            <a:ext cx="79020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i="1" dirty="0">
                <a:solidFill>
                  <a:srgbClr val="F1FA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"Qui avait interet a ce qu'il disparaisse ?"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4901" y="4514850"/>
            <a:ext cx="55606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 INTERACTIF : neexios.github.io/christophe-de-margerie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8087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PIECE A-1 — LE SUJET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786557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1FA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"Big Moustache"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383357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600"/>
              </a:spcAft>
              <a:buNone/>
            </a:pPr>
            <a:r>
              <a:rPr lang="en-US" sz="11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 etait Christophe de Margerie 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738908"/>
            <a:ext cx="8290661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2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PDG de Total depuis </a:t>
            </a:r>
            <a:pPr algn="l" indent="0" marL="0">
              <a:lnSpc>
                <a:spcPts val="204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</a:t>
            </a:r>
            <a:pPr algn="l" indent="0" marL="0">
              <a:lnSpc>
                <a:spcPts val="204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2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surnomme "Big Moustache", il incarnait une </a:t>
            </a:r>
            <a:pPr algn="l" indent="0" marL="0">
              <a:lnSpc>
                <a:spcPts val="204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diplomatie d'entreprise audacieuse</a:t>
            </a:r>
            <a:pPr algn="l" indent="0" marL="0">
              <a:lnSpc>
                <a:spcPts val="204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2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negociant directement avec des chefs d'Etat controverses. Total, </a:t>
            </a:r>
            <a:pPr algn="l" indent="0" marL="0">
              <a:lnSpc>
                <a:spcPts val="204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4e major petroliere mondiale</a:t>
            </a:r>
            <a:pPr algn="l" indent="0" marL="0">
              <a:lnSpc>
                <a:spcPts val="204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2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etait present dans plus de 130 pays. Il fit de la Russie un axe majeur de croissance. Son franc-parler et sa vision geopolitique independante en faisaient un patron atypique — et encombrant pour certains.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2977902"/>
            <a:ext cx="1917650" cy="144422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7000" y="2977902"/>
            <a:ext cx="0" cy="1444228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751" y="3434953"/>
            <a:ext cx="15546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23751" y="4028629"/>
            <a:ext cx="1554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NOMME PDG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78001" y="2977902"/>
            <a:ext cx="1917799" cy="144422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97051" y="2977902"/>
            <a:ext cx="0" cy="1444228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3802" y="3434953"/>
            <a:ext cx="155478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3802" y="4028629"/>
            <a:ext cx="15547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48200" y="2977902"/>
            <a:ext cx="1917650" cy="144422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67250" y="2977902"/>
            <a:ext cx="0" cy="1444228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001" y="3434953"/>
            <a:ext cx="15546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64001" y="4028629"/>
            <a:ext cx="1554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MAJOR MONDIALE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18250" y="2977902"/>
            <a:ext cx="1917799" cy="144422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737300" y="2977902"/>
            <a:ext cx="0" cy="1444228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4051" y="3434953"/>
            <a:ext cx="155478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34051" y="4028629"/>
            <a:ext cx="15547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COLLABORATEURS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04800"/>
            <a:ext cx="88087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PIECE A-2 — CONTEXTE SOUS HAUTE TENSION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69339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10"/>
              </a:spcBef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1FA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&amp; la Russie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7950" y="125849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PDG a contre-courant des sanctions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1528316"/>
            <a:ext cx="2624733" cy="170080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528316"/>
            <a:ext cx="0" cy="1700808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3001" y="1769566"/>
            <a:ext cx="23793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SANCTIONS 2014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3001" y="2029867"/>
            <a:ext cx="2379387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Annexion de la Crimee par la Russie. Les Etats-Unis et l'UE imposent des </a:t>
            </a:r>
            <a:pPr algn="l" indent="0" marL="0">
              <a:lnSpc>
                <a:spcPts val="16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sanctions economiques</a:t>
            </a:r>
            <a:pPr algn="l" indent="0" marL="0">
              <a:lnSpc>
                <a:spcPts val="16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La Russie est isolee sur la scene internationale.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59634" y="1528316"/>
            <a:ext cx="2624733" cy="170080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78684" y="1528316"/>
            <a:ext cx="0" cy="1700808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4684" y="1769566"/>
            <a:ext cx="23793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STRATEGIE A CONTRE-COURANT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4684" y="2163217"/>
            <a:ext cx="2379387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</a:t>
            </a:r>
            <a:pPr algn="l" indent="0" marL="0">
              <a:lnSpc>
                <a:spcPts val="16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maintient ses investissements</a:t>
            </a:r>
            <a:pPr algn="l" indent="0" marL="0">
              <a:lnSpc>
                <a:spcPts val="16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: Yamal LNG (27 Mrd$), 18% de Novatek. ExxonMobil se retire. CDM reste seul a defier le consensus occidental.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11317" y="1528316"/>
            <a:ext cx="2624733" cy="170080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30367" y="1528316"/>
            <a:ext cx="0" cy="1700808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6367" y="1769566"/>
            <a:ext cx="23793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MENACE SUR LE PETRODOLLAR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76367" y="2163217"/>
            <a:ext cx="2379387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juillet 2014, CDM declare qu'il n'y a </a:t>
            </a:r>
            <a:pPr algn="l" indent="0" marL="0">
              <a:lnSpc>
                <a:spcPts val="16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"aucune raison"</a:t>
            </a:r>
            <a:pPr algn="l" indent="0" marL="0">
              <a:lnSpc>
                <a:spcPts val="16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payer le petrole en dollars. Attaque frontale contre la suprematie financiere US depuis </a:t>
            </a:r>
            <a:pPr algn="l" indent="0" marL="0">
              <a:lnSpc>
                <a:spcPts val="16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1974</a:t>
            </a:r>
            <a:pPr algn="l" indent="0" marL="0">
              <a:lnSpc>
                <a:spcPts val="16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950" y="3356074"/>
            <a:ext cx="2624733" cy="134272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27000" y="3356074"/>
            <a:ext cx="0" cy="1342727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3001" y="3762375"/>
            <a:ext cx="237938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3001" y="4356050"/>
            <a:ext cx="23793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NOVATEK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59634" y="3356074"/>
            <a:ext cx="2624733" cy="134272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278684" y="3356074"/>
            <a:ext cx="0" cy="1342727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4684" y="3762375"/>
            <a:ext cx="237938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Mrd$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424684" y="4356050"/>
            <a:ext cx="23793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YAMAL LNG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11317" y="3356074"/>
            <a:ext cx="2624733" cy="134272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30367" y="3356074"/>
            <a:ext cx="0" cy="1342727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6367" y="3762375"/>
            <a:ext cx="237938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76367" y="4356050"/>
            <a:ext cx="23793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PETRODOLLAR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8087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PIECE A-3 — LA NUIT DU 20 OCTOBRE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896541"/>
            <a:ext cx="47879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10"/>
              </a:spcBef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octobre 2014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7950" y="1474291"/>
            <a:ext cx="4787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400"/>
              </a:spcAft>
              <a:buNone/>
            </a:pPr>
            <a:r>
              <a:rPr lang="en-US" sz="11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23h57 — Piste 06, Aeroport de Vnoukovo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804392"/>
            <a:ext cx="4787920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Apres un diner avec 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Dmitri Medvedev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le Falcon 50 de Christophe de Margerie percute un 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chasse-neige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sur la piste au decollage. Brouillard : 350m de visibilite. Le conducteur de l'engin est en 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etat d'ivresse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4 morts, aucun survivant a bord.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06789" y="755600"/>
            <a:ext cx="319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9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CHRONOLOGIE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06789" y="1041350"/>
            <a:ext cx="319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20h30</a:t>
            </a:r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Diner Medvedev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06789" y="1311176"/>
            <a:ext cx="319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23h10</a:t>
            </a:r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Arrivee aeroport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6789" y="1581001"/>
            <a:ext cx="319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23h50</a:t>
            </a:r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Autorisation decollage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6789" y="1850827"/>
            <a:ext cx="319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23h57</a:t>
            </a:r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COLLISION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06789" y="2120652"/>
            <a:ext cx="319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00h02</a:t>
            </a:r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Confirmation deces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3445073"/>
            <a:ext cx="1917650" cy="1393627"/>
          </a:xfrm>
          <a:prstGeom prst="rect">
            <a:avLst/>
          </a:prstGeom>
          <a:solidFill>
            <a:srgbClr val="C0392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7000" y="3445073"/>
            <a:ext cx="0" cy="1393627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450" y="3876824"/>
            <a:ext cx="16062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8450" y="4470499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VICTIMES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78001" y="3445073"/>
            <a:ext cx="1917799" cy="1393627"/>
          </a:xfrm>
          <a:prstGeom prst="rect">
            <a:avLst/>
          </a:prstGeom>
          <a:solidFill>
            <a:srgbClr val="C0392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597051" y="3445073"/>
            <a:ext cx="0" cy="1393627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68501" y="3876824"/>
            <a:ext cx="160639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350m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768501" y="4470499"/>
            <a:ext cx="16063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VISIBILITE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48200" y="3445073"/>
            <a:ext cx="1917650" cy="1393627"/>
          </a:xfrm>
          <a:prstGeom prst="rect">
            <a:avLst/>
          </a:prstGeom>
          <a:solidFill>
            <a:srgbClr val="C0392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67250" y="3445073"/>
            <a:ext cx="0" cy="1393627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38700" y="3876824"/>
            <a:ext cx="16062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 ans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38700" y="4470499"/>
            <a:ext cx="1606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CDM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18250" y="3445073"/>
            <a:ext cx="1917799" cy="1393627"/>
          </a:xfrm>
          <a:prstGeom prst="rect">
            <a:avLst/>
          </a:prstGeom>
          <a:solidFill>
            <a:srgbClr val="C0392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737300" y="3445073"/>
            <a:ext cx="0" cy="1393627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8750" y="3876824"/>
            <a:ext cx="160639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08750" y="4470499"/>
            <a:ext cx="16063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g/L ALCOOL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8087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PIECE B-1 — MATRICE D'INTERETS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786557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Cui Bono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383357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800"/>
              </a:spcAft>
              <a:buNone/>
            </a:pPr>
            <a:r>
              <a:rPr lang="en-US" sz="11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 avait interet a ce qu'il disparaisse 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764357"/>
            <a:ext cx="2607766" cy="2092077"/>
          </a:xfrm>
          <a:prstGeom prst="rect">
            <a:avLst/>
          </a:prstGeom>
          <a:solidFill>
            <a:srgbClr val="C0392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764357"/>
            <a:ext cx="0" cy="2092077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751" y="2069009"/>
            <a:ext cx="2258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 ETATS-UNIS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3751" y="2351484"/>
            <a:ext cx="2258550" cy="1187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Maintenir les 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sanctions anti-Russie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et l'hegemonie du dollar. Eliminer un PDG qui contournait le blocus et remettait en cause le 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petrodollar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68117" y="1764357"/>
            <a:ext cx="2607766" cy="2092077"/>
          </a:xfrm>
          <a:prstGeom prst="rect">
            <a:avLst/>
          </a:prstGeom>
          <a:solidFill>
            <a:srgbClr val="C0392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87167" y="1764357"/>
            <a:ext cx="0" cy="2092077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918" y="2069009"/>
            <a:ext cx="2258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CONCURRENTS ENERGETIQUES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83918" y="2494359"/>
            <a:ext cx="2258550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Possibilite de 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racheter les participations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Novatek/Yamal a bas prix si Total se retire de Russie apres la mort de son champion.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28283" y="1764357"/>
            <a:ext cx="2607766" cy="2092077"/>
          </a:xfrm>
          <a:prstGeom prst="rect">
            <a:avLst/>
          </a:prstGeom>
          <a:solidFill>
            <a:srgbClr val="C0392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47333" y="1764357"/>
            <a:ext cx="0" cy="2092077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4084" y="2069009"/>
            <a:ext cx="2258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FACTIONS INTERNES RUSSES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44084" y="2494359"/>
            <a:ext cx="2258550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Timtchenko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(Novatek) vs 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Setchine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(Rosneft) — guerre de clans oligarchiques. CDM etait un pion strategique dans cette rivalite.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8087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PIECE B-2 — INFORMATION WARFARE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76959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10"/>
              </a:spcBef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1FA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Guerre de l'information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7950" y="133469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10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Trois recits, trois agendas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1655266"/>
            <a:ext cx="2607766" cy="191050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655266"/>
            <a:ext cx="0" cy="1910507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751" y="1947267"/>
            <a:ext cx="2258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RECIT OCCIDENTAL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3751" y="2207568"/>
            <a:ext cx="2258550" cy="107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Negligence russe, alcoolisme du conducteur, vetuste des infrastructures aeriennes. Objectif : </a:t>
            </a:r>
            <a:pPr algn="l" indent="0" marL="0">
              <a:lnSpc>
                <a:spcPts val="17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degrader l'image</a:t>
            </a:r>
            <a:pPr algn="l" indent="0" marL="0">
              <a:lnSpc>
                <a:spcPts val="17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la Russie et justifier les sanctions.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68117" y="1655266"/>
            <a:ext cx="2607766" cy="191050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87167" y="1655266"/>
            <a:ext cx="0" cy="1910507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918" y="1947267"/>
            <a:ext cx="2258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RECIT RUSSE / COMPLOTISTE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83918" y="2340918"/>
            <a:ext cx="2258550" cy="863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Sabotage orchestre par la </a:t>
            </a:r>
            <a:pPr algn="l" indent="0" marL="0">
              <a:lnSpc>
                <a:spcPts val="17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CIA</a:t>
            </a:r>
            <a:pPr algn="l" indent="0" marL="0">
              <a:lnSpc>
                <a:spcPts val="17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punition pour les declarations anti-petrodollar. Objectif : </a:t>
            </a:r>
            <a:pPr algn="l" indent="0" marL="0">
              <a:lnSpc>
                <a:spcPts val="17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discrediter l'Occident</a:t>
            </a:r>
            <a:pPr algn="l" indent="0" marL="0">
              <a:lnSpc>
                <a:spcPts val="17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28283" y="1655266"/>
            <a:ext cx="2607766" cy="191050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47333" y="1655266"/>
            <a:ext cx="0" cy="1910507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4084" y="1947267"/>
            <a:ext cx="2258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ENQUETE OFFICIELLE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44084" y="2207568"/>
            <a:ext cx="2258550" cy="107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 + BEA concluent a des </a:t>
            </a:r>
            <a:pPr algn="l" indent="0" marL="0">
              <a:lnSpc>
                <a:spcPts val="17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"erreurs humaines"</a:t>
            </a:r>
            <a:pPr algn="l" indent="0" marL="0">
              <a:lnSpc>
                <a:spcPts val="17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Condamnations : Martynenko 4 ans, Krivsun 5 ans, Ledenev 3.5 ans. Aucune piste criminelle retenue.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04800"/>
            <a:ext cx="88087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PIECE C-1 — ENSEIGNEMENTS IE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659309"/>
            <a:ext cx="8290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42"/>
              </a:spcBef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F1FA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Economique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1167259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Quatre lecons a retenir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1437084"/>
            <a:ext cx="4013150" cy="131415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437084"/>
            <a:ext cx="0" cy="1314152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3001" y="1792486"/>
            <a:ext cx="37955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"/>
              </a:spcAft>
              <a:buNone/>
            </a:pPr>
            <a:r>
              <a:rPr lang="en-US" sz="20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algn="l" indent="0" marL="0">
              <a:spcBef>
                <a:spcPts val="20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PERSON RISK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3001" y="2192536"/>
            <a:ext cx="379557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Protocoles de </a:t>
            </a:r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succession</a:t>
            </a:r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et reduction de la dependance a un dirigeant unique.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22602" y="1437084"/>
            <a:ext cx="4013150" cy="131415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41652" y="1437084"/>
            <a:ext cx="0" cy="1314152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7652" y="1792486"/>
            <a:ext cx="37955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"/>
              </a:spcAft>
              <a:buNone/>
            </a:pPr>
            <a:r>
              <a:rPr lang="en-US" sz="20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spcBef>
                <a:spcPts val="20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CARTOGRAPHIE MENACES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87652" y="2192536"/>
            <a:ext cx="379557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Analyser le </a:t>
            </a:r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Cui Bono</a:t>
            </a:r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: identifier acteurs hostiles et anticiper motivations.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852738"/>
            <a:ext cx="4013150" cy="114270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2852738"/>
            <a:ext cx="0" cy="1142702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3001" y="3208139"/>
            <a:ext cx="37955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"/>
              </a:spcAft>
              <a:buNone/>
            </a:pPr>
            <a:r>
              <a:rPr lang="en-US" sz="20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algn="l" indent="0" marL="0">
              <a:spcBef>
                <a:spcPts val="20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MAITRISE INFO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3001" y="3608189"/>
            <a:ext cx="37955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Distinguer faits verifies, hypotheses plausibles et </a:t>
            </a:r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theories non etayees</a:t>
            </a:r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2602" y="2852738"/>
            <a:ext cx="4013150" cy="114270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41652" y="2852738"/>
            <a:ext cx="0" cy="1142702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7652" y="3208139"/>
            <a:ext cx="37955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"/>
              </a:spcAft>
              <a:buNone/>
            </a:pPr>
            <a:r>
              <a:rPr lang="en-US" sz="20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algn="l" indent="0" marL="0">
              <a:spcBef>
                <a:spcPts val="20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BILAN POST-2014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87652" y="3608189"/>
            <a:ext cx="37955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Pouyanne</a:t>
            </a:r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PDG, Yamal acheve, invasion Ukraine 2022 valide l'analyse.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8087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PIECE C-2 —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76959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10"/>
              </a:spcBef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1FA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Vnoukovo, un revelateur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7950" y="1360140"/>
            <a:ext cx="8290661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2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CDM se trouvait a l'epicentre d'un </a:t>
            </a:r>
            <a:pPr algn="l" indent="0" marL="0">
              <a:lnSpc>
                <a:spcPts val="204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ouragan d'interets divergents</a:t>
            </a:r>
            <a:pPr algn="l" indent="0" marL="0">
              <a:lnSpc>
                <a:spcPts val="204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2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: petrodollar, pont energetique avec la Russie, clans oligarchiques. La question n'est pas </a:t>
            </a:r>
            <a:pPr algn="l" indent="0" marL="0">
              <a:lnSpc>
                <a:spcPts val="204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200" i="1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"qui l'a tue"</a:t>
            </a:r>
            <a:pPr algn="l" indent="0" marL="0">
              <a:lnSpc>
                <a:spcPts val="204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2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mais </a:t>
            </a:r>
            <a:pPr algn="l" indent="0" marL="0">
              <a:lnSpc>
                <a:spcPts val="204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qui sa disparition a profite"</a:t>
            </a:r>
            <a:pPr algn="l" indent="0" marL="0">
              <a:lnSpc>
                <a:spcPts val="204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12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081212"/>
            <a:ext cx="3975199" cy="18545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2081212"/>
            <a:ext cx="0" cy="1854547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751" y="2385864"/>
            <a:ext cx="3653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REVELATEUR SYSTEMIQUE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3751" y="2668339"/>
            <a:ext cx="3653332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L'accident revele la 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vulnerabilite des dirigeants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qui portent seuls une strategie geopolitique. Un homme, aussi puissant soit-il, reste une cible quand il incarne un enjeu mondial.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0850" y="2081212"/>
            <a:ext cx="3975199" cy="18545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79900" y="2081212"/>
            <a:ext cx="0" cy="1854547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6651" y="2385864"/>
            <a:ext cx="3653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ROLE DE L'IE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76651" y="2668339"/>
            <a:ext cx="3653332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L'Intelligence Economique permet l'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anticipation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et la 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globale des risques</a:t>
            </a:r>
            <a:pPr algn="l" indent="0" marL="0">
              <a:lnSpc>
                <a:spcPts val="187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D0D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: protection des dirigeants, maitrise informationnelle, continuite strategique.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8087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BILAN POST-2014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76959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10"/>
              </a:spcBef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1FA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Evolution de Total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7950" y="133469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la tragedie a la transformation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1832967"/>
            <a:ext cx="8128099" cy="25301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47651" y="1769566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631" y="2213967"/>
            <a:ext cx="20725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7631" y="2585442"/>
            <a:ext cx="2072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0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Patrick Pouyanne</a:t>
            </a:r>
            <a:endParaRPr lang="en-US" sz="900" dirty="0"/>
          </a:p>
          <a:p>
            <a:pPr algn="ctr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0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nomme PDG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9750" y="1769566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19580" y="2213967"/>
            <a:ext cx="20727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19580" y="2585442"/>
            <a:ext cx="20727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0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devient</a:t>
            </a:r>
            <a:endParaRPr lang="en-US" sz="900" dirty="0"/>
          </a:p>
          <a:p>
            <a:pPr algn="ctr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0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TotalEnergies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11701" y="1769566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51680" y="2213967"/>
            <a:ext cx="20725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51680" y="2585442"/>
            <a:ext cx="2072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0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Invasion Ukraine</a:t>
            </a:r>
            <a:endParaRPr lang="en-US" sz="900" dirty="0"/>
          </a:p>
          <a:p>
            <a:pPr algn="ctr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0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Sanctions renforcees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43800" y="1769566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D4A8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83629" y="2213967"/>
            <a:ext cx="20727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29" y="2585442"/>
            <a:ext cx="20727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0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4e major mondiale</a:t>
            </a:r>
            <a:endParaRPr lang="en-US" sz="900" dirty="0"/>
          </a:p>
          <a:p>
            <a:pPr algn="ctr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0D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 energetique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950" y="3318272"/>
            <a:ext cx="2607766" cy="144422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27000" y="3318272"/>
            <a:ext cx="0" cy="1444228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3751" y="3775323"/>
            <a:ext cx="22585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49.55 EUR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3751" y="4368998"/>
            <a:ext cx="2258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2014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68117" y="3318272"/>
            <a:ext cx="2607766" cy="144422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287167" y="3318272"/>
            <a:ext cx="0" cy="1444228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3918" y="3775323"/>
            <a:ext cx="22585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58.20 EUR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483918" y="4368998"/>
            <a:ext cx="2258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2024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28283" y="3318272"/>
            <a:ext cx="2607766" cy="144422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047333" y="3318272"/>
            <a:ext cx="0" cy="1444228"/>
          </a:xfrm>
          <a:prstGeom prst="line">
            <a:avLst/>
          </a:prstGeom>
          <a:noFill/>
          <a:ln w="38100">
            <a:solidFill>
              <a:srgbClr val="D4A8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4084" y="3775323"/>
            <a:ext cx="22585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244084" y="4368998"/>
            <a:ext cx="2258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RENOUVELABLES 2030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3911" y="955625"/>
            <a:ext cx="6736029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spcBef>
                <a:spcPts val="1800"/>
              </a:spcBef>
              <a:spcAft>
                <a:spcPts val="1600"/>
              </a:spcAft>
              <a:buNone/>
            </a:pPr>
            <a:r>
              <a:rPr lang="en-US" sz="1800" i="1" dirty="0">
                <a:solidFill>
                  <a:srgbClr val="F1FA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"Plus une societe pese sur les equilibres mondiaux, plus ses dirigeants deviennent des cibles."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17521" y="2108448"/>
            <a:ext cx="31088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4000"/>
              </a:spcAft>
              <a:buNone/>
            </a:pPr>
            <a:r>
              <a:rPr lang="en-US" sz="1000" dirty="0">
                <a:solidFill>
                  <a:srgbClr val="D4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Enseignement d'Intelligence Economique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61483" y="2650003"/>
            <a:ext cx="3220885" cy="1132643"/>
          </a:xfrm>
          <a:prstGeom prst="rect">
            <a:avLst/>
          </a:prstGeom>
          <a:noFill/>
          <a:ln w="3810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54207" y="3019379"/>
            <a:ext cx="2435438" cy="39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DOSSIER CLOS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54555" y="4168676"/>
            <a:ext cx="3834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A6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neexios.github.io/christophe-de-margerie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Christophe de Margerie — Enquête IE</dc:title>
  <dc:subject>PptxGenJS Presentation</dc:subject>
  <dc:creator>Neexios</dc:creator>
  <cp:lastModifiedBy>Neexios</cp:lastModifiedBy>
  <cp:revision>1</cp:revision>
  <dcterms:created xsi:type="dcterms:W3CDTF">2026-04-01T22:33:40Z</dcterms:created>
  <dcterms:modified xsi:type="dcterms:W3CDTF">2026-04-01T22:33:40Z</dcterms:modified>
</cp:coreProperties>
</file>